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laywrite US Modern" charset="1" panose="00000000000000000000"/>
      <p:regular r:id="rId17"/>
    </p:embeddedFont>
    <p:embeddedFont>
      <p:font typeface="Canva Student Font" charset="1" panose="00000000000000000000"/>
      <p:regular r:id="rId18"/>
    </p:embeddedFont>
    <p:embeddedFont>
      <p:font typeface="Playpen Sans Bold" charset="1" panose="00000000000000000000"/>
      <p:regular r:id="rId19"/>
    </p:embeddedFont>
    <p:embeddedFont>
      <p:font typeface="Lora Bold" charset="1" panose="00000800000000000000"/>
      <p:regular r:id="rId20"/>
    </p:embeddedFont>
    <p:embeddedFont>
      <p:font typeface="Lora" charset="1" panose="00000500000000000000"/>
      <p:regular r:id="rId21"/>
    </p:embeddedFont>
    <p:embeddedFont>
      <p:font typeface="Playpen Sans" charset="1" panose="00000000000000000000"/>
      <p:regular r:id="rId22"/>
    </p:embeddedFont>
    <p:embeddedFont>
      <p:font typeface="Fredoka" charset="1" panose="02000000000000000000"/>
      <p:regular r:id="rId23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.png" Type="http://schemas.openxmlformats.org/officeDocument/2006/relationships/image"/><Relationship Id="rId7" Target="../media/image19.pn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https://doi.org/10.1016/j.rse.2017.06.03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465885"/>
            <a:ext cx="7468362" cy="8229600"/>
          </a:xfrm>
          <a:custGeom>
            <a:avLst/>
            <a:gdLst/>
            <a:ahLst/>
            <a:cxnLst/>
            <a:rect r="r" b="b" t="t" l="l"/>
            <a:pathLst>
              <a:path h="8229600" w="7468362">
                <a:moveTo>
                  <a:pt x="0" y="0"/>
                </a:moveTo>
                <a:lnTo>
                  <a:pt x="7468362" y="0"/>
                </a:lnTo>
                <a:lnTo>
                  <a:pt x="74683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-192620"/>
            <a:ext cx="10560059" cy="12227437"/>
          </a:xfrm>
          <a:custGeom>
            <a:avLst/>
            <a:gdLst/>
            <a:ahLst/>
            <a:cxnLst/>
            <a:rect r="r" b="b" t="t" l="l"/>
            <a:pathLst>
              <a:path h="12227437" w="10560059">
                <a:moveTo>
                  <a:pt x="0" y="0"/>
                </a:moveTo>
                <a:lnTo>
                  <a:pt x="10560059" y="0"/>
                </a:lnTo>
                <a:lnTo>
                  <a:pt x="10560059" y="12227436"/>
                </a:lnTo>
                <a:lnTo>
                  <a:pt x="0" y="12227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7838" y="3285247"/>
            <a:ext cx="6901168" cy="322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7"/>
              </a:lnSpc>
            </a:pPr>
            <a:r>
              <a:rPr lang="en-US" sz="15123" spc="-166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565936" y="849695"/>
            <a:ext cx="7468362" cy="8229600"/>
          </a:xfrm>
          <a:custGeom>
            <a:avLst/>
            <a:gdLst/>
            <a:ahLst/>
            <a:cxnLst/>
            <a:rect r="r" b="b" t="t" l="l"/>
            <a:pathLst>
              <a:path h="8229600" w="7468362">
                <a:moveTo>
                  <a:pt x="0" y="0"/>
                </a:moveTo>
                <a:lnTo>
                  <a:pt x="7468362" y="0"/>
                </a:lnTo>
                <a:lnTo>
                  <a:pt x="74683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0713" y="7158451"/>
            <a:ext cx="4666160" cy="161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Lora Bold"/>
                <a:ea typeface="Lora Bold"/>
                <a:cs typeface="Lora Bold"/>
                <a:sym typeface="Lora Bold"/>
              </a:rPr>
              <a:t>Binary Classification of NDVI Satellite Imagery in the Pine Forests of Haiti using Convolutional Neural Networks.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9026" y="6349813"/>
            <a:ext cx="5179450" cy="103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284">
                <a:solidFill>
                  <a:srgbClr val="136535"/>
                </a:solidFill>
                <a:latin typeface="Lora"/>
                <a:ea typeface="Lora"/>
                <a:cs typeface="Lora"/>
                <a:sym typeface="Lora"/>
              </a:rPr>
              <a:t>Forest Monitoring </a:t>
            </a:r>
          </a:p>
          <a:p>
            <a:pPr algn="l">
              <a:lnSpc>
                <a:spcPts val="2741"/>
              </a:lnSpc>
            </a:pPr>
            <a:r>
              <a:rPr lang="en-US" sz="2284">
                <a:solidFill>
                  <a:srgbClr val="136535"/>
                </a:solidFill>
                <a:latin typeface="Lora"/>
                <a:ea typeface="Lora"/>
                <a:cs typeface="Lora"/>
                <a:sym typeface="Lora"/>
              </a:rPr>
              <a:t>Deep Learning Pipeline</a:t>
            </a:r>
          </a:p>
          <a:p>
            <a:pPr algn="l">
              <a:lnSpc>
                <a:spcPts val="274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4191" y="3949598"/>
            <a:ext cx="11299619" cy="4665019"/>
          </a:xfrm>
          <a:custGeom>
            <a:avLst/>
            <a:gdLst/>
            <a:ahLst/>
            <a:cxnLst/>
            <a:rect r="r" b="b" t="t" l="l"/>
            <a:pathLst>
              <a:path h="4665019" w="11299619">
                <a:moveTo>
                  <a:pt x="0" y="0"/>
                </a:moveTo>
                <a:lnTo>
                  <a:pt x="11299618" y="0"/>
                </a:lnTo>
                <a:lnTo>
                  <a:pt x="11299618" y="4665019"/>
                </a:lnTo>
                <a:lnTo>
                  <a:pt x="0" y="4665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12106" y="2555441"/>
            <a:ext cx="10519971" cy="110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Core 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78169" y="6747980"/>
            <a:ext cx="1189419" cy="1120217"/>
          </a:xfrm>
          <a:custGeom>
            <a:avLst/>
            <a:gdLst/>
            <a:ahLst/>
            <a:cxnLst/>
            <a:rect r="r" b="b" t="t" l="l"/>
            <a:pathLst>
              <a:path h="1120217" w="1189419">
                <a:moveTo>
                  <a:pt x="0" y="0"/>
                </a:moveTo>
                <a:lnTo>
                  <a:pt x="1189419" y="0"/>
                </a:lnTo>
                <a:lnTo>
                  <a:pt x="1189419" y="1120217"/>
                </a:lnTo>
                <a:lnTo>
                  <a:pt x="0" y="11202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40533" y="4518273"/>
            <a:ext cx="5981375" cy="365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Automated Detection: Distinguish between forest and non-f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orest cover.</a:t>
            </a:r>
          </a:p>
          <a:p>
            <a:pPr algn="just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Historical Analysis: Scale monitoring across 2020 and 2024.</a:t>
            </a:r>
          </a:p>
          <a:p>
            <a:pPr algn="just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Deep Learning: Move beyond simple thresholding to spatial feature extraction.</a:t>
            </a:r>
          </a:p>
          <a:p>
            <a:pPr algn="just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Conservation: Provide actionable binary maps for Haitian forestry.</a:t>
            </a:r>
          </a:p>
          <a:p>
            <a:pPr algn="just">
              <a:lnSpc>
                <a:spcPts val="327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5405" y="5038725"/>
            <a:ext cx="3714947" cy="152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4"/>
              </a:lnSpc>
              <a:spcBef>
                <a:spcPct val="0"/>
              </a:spcBef>
            </a:pPr>
            <a:r>
              <a:rPr lang="en-US" sz="5631">
                <a:solidFill>
                  <a:srgbClr val="136535"/>
                </a:solidFill>
                <a:latin typeface="Fredoka"/>
                <a:ea typeface="Fredoka"/>
                <a:cs typeface="Fredoka"/>
                <a:sym typeface="Fredoka"/>
              </a:rPr>
              <a:t>10m</a:t>
            </a:r>
          </a:p>
          <a:p>
            <a:pPr algn="ctr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Spatial Resolution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8858" y="5718833"/>
            <a:ext cx="9055956" cy="8229600"/>
          </a:xfrm>
          <a:custGeom>
            <a:avLst/>
            <a:gdLst/>
            <a:ahLst/>
            <a:cxnLst/>
            <a:rect r="r" b="b" t="t" l="l"/>
            <a:pathLst>
              <a:path h="8229600" w="9055956">
                <a:moveTo>
                  <a:pt x="0" y="0"/>
                </a:moveTo>
                <a:lnTo>
                  <a:pt x="9055956" y="0"/>
                </a:lnTo>
                <a:lnTo>
                  <a:pt x="90559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65583" y="1222180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6"/>
                </a:lnTo>
                <a:lnTo>
                  <a:pt x="0" y="1049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04972" y="6641354"/>
            <a:ext cx="5693700" cy="3049545"/>
          </a:xfrm>
          <a:custGeom>
            <a:avLst/>
            <a:gdLst/>
            <a:ahLst/>
            <a:cxnLst/>
            <a:rect r="r" b="b" t="t" l="l"/>
            <a:pathLst>
              <a:path h="3049545" w="5693700">
                <a:moveTo>
                  <a:pt x="0" y="0"/>
                </a:moveTo>
                <a:lnTo>
                  <a:pt x="5693700" y="0"/>
                </a:lnTo>
                <a:lnTo>
                  <a:pt x="5693700" y="3049544"/>
                </a:lnTo>
                <a:lnTo>
                  <a:pt x="0" y="3049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498" r="0" b="-2219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63269" y="3983533"/>
            <a:ext cx="7220820" cy="33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Phase 1: Data Acqui</a:t>
            </a: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sition</a:t>
            </a:r>
          </a:p>
          <a:p>
            <a:pPr algn="l">
              <a:lnSpc>
                <a:spcPts val="89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84089" y="3548427"/>
            <a:ext cx="7313892" cy="406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23" b="true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Go</a:t>
            </a:r>
            <a:r>
              <a:rPr lang="en-US" b="true" sz="2100" spc="-23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ogle Earth Engine Pipeline</a:t>
            </a: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We leverage Sentinel-2 SR Harmonized data to build robust seasonal composites.</a:t>
            </a: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 Dry Season focus (Jan - Mar) for cloud-free images.</a:t>
            </a: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 NDVI Computation using B8 (NIR) and B4 (Red) bands.</a:t>
            </a: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 Median composting to eliminate atmospheric noise.</a:t>
            </a:r>
          </a:p>
          <a:p>
            <a:pPr algn="l">
              <a:lnSpc>
                <a:spcPts val="327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8858" y="5718833"/>
            <a:ext cx="9055956" cy="8229600"/>
          </a:xfrm>
          <a:custGeom>
            <a:avLst/>
            <a:gdLst/>
            <a:ahLst/>
            <a:cxnLst/>
            <a:rect r="r" b="b" t="t" l="l"/>
            <a:pathLst>
              <a:path h="8229600" w="9055956">
                <a:moveTo>
                  <a:pt x="0" y="0"/>
                </a:moveTo>
                <a:lnTo>
                  <a:pt x="9055956" y="0"/>
                </a:lnTo>
                <a:lnTo>
                  <a:pt x="90559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65583" y="1222180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6"/>
                </a:lnTo>
                <a:lnTo>
                  <a:pt x="0" y="1049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00509" y="2308957"/>
            <a:ext cx="8763482" cy="6200164"/>
          </a:xfrm>
          <a:custGeom>
            <a:avLst/>
            <a:gdLst/>
            <a:ahLst/>
            <a:cxnLst/>
            <a:rect r="r" b="b" t="t" l="l"/>
            <a:pathLst>
              <a:path h="6200164" w="8763482">
                <a:moveTo>
                  <a:pt x="0" y="0"/>
                </a:moveTo>
                <a:lnTo>
                  <a:pt x="8763482" y="0"/>
                </a:lnTo>
                <a:lnTo>
                  <a:pt x="8763482" y="6200163"/>
                </a:lnTo>
                <a:lnTo>
                  <a:pt x="0" y="6200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63269" y="3983533"/>
            <a:ext cx="7220820" cy="33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Phase 1: Data Acqui</a:t>
            </a: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sition</a:t>
            </a:r>
          </a:p>
          <a:p>
            <a:pPr algn="l">
              <a:lnSpc>
                <a:spcPts val="89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6893" y="7313084"/>
            <a:ext cx="557444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20"/>
              </a:lnSpc>
            </a:pPr>
            <a:r>
              <a:rPr lang="en-US" sz="3000" spc="-32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Area of interest</a:t>
            </a:r>
          </a:p>
          <a:p>
            <a:pPr algn="r">
              <a:lnSpc>
                <a:spcPts val="4020"/>
              </a:lnSpc>
              <a:spcBef>
                <a:spcPct val="0"/>
              </a:spcBef>
            </a:pPr>
            <a:r>
              <a:rPr lang="en-US" sz="3000" spc="-32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Pine forest, South-East, Haiti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8858" y="5718833"/>
            <a:ext cx="9055956" cy="8229600"/>
          </a:xfrm>
          <a:custGeom>
            <a:avLst/>
            <a:gdLst/>
            <a:ahLst/>
            <a:cxnLst/>
            <a:rect r="r" b="b" t="t" l="l"/>
            <a:pathLst>
              <a:path h="8229600" w="9055956">
                <a:moveTo>
                  <a:pt x="0" y="0"/>
                </a:moveTo>
                <a:lnTo>
                  <a:pt x="9055956" y="0"/>
                </a:lnTo>
                <a:lnTo>
                  <a:pt x="90559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65583" y="1222180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6"/>
                </a:lnTo>
                <a:lnTo>
                  <a:pt x="0" y="1049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73844" y="3116479"/>
            <a:ext cx="673874" cy="952779"/>
          </a:xfrm>
          <a:custGeom>
            <a:avLst/>
            <a:gdLst/>
            <a:ahLst/>
            <a:cxnLst/>
            <a:rect r="r" b="b" t="t" l="l"/>
            <a:pathLst>
              <a:path h="952779" w="673874">
                <a:moveTo>
                  <a:pt x="0" y="0"/>
                </a:moveTo>
                <a:lnTo>
                  <a:pt x="673874" y="0"/>
                </a:lnTo>
                <a:lnTo>
                  <a:pt x="673874" y="952779"/>
                </a:lnTo>
                <a:lnTo>
                  <a:pt x="0" y="9527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3844" y="5008641"/>
            <a:ext cx="678930" cy="678930"/>
          </a:xfrm>
          <a:custGeom>
            <a:avLst/>
            <a:gdLst/>
            <a:ahLst/>
            <a:cxnLst/>
            <a:rect r="r" b="b" t="t" l="l"/>
            <a:pathLst>
              <a:path h="678930" w="678930">
                <a:moveTo>
                  <a:pt x="0" y="0"/>
                </a:moveTo>
                <a:lnTo>
                  <a:pt x="678930" y="0"/>
                </a:lnTo>
                <a:lnTo>
                  <a:pt x="678930" y="678929"/>
                </a:lnTo>
                <a:lnTo>
                  <a:pt x="0" y="6789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73844" y="6340074"/>
            <a:ext cx="699492" cy="882386"/>
          </a:xfrm>
          <a:custGeom>
            <a:avLst/>
            <a:gdLst/>
            <a:ahLst/>
            <a:cxnLst/>
            <a:rect r="r" b="b" t="t" l="l"/>
            <a:pathLst>
              <a:path h="882386" w="699492">
                <a:moveTo>
                  <a:pt x="0" y="0"/>
                </a:moveTo>
                <a:lnTo>
                  <a:pt x="699492" y="0"/>
                </a:lnTo>
                <a:lnTo>
                  <a:pt x="699492" y="882386"/>
                </a:lnTo>
                <a:lnTo>
                  <a:pt x="0" y="882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63269" y="3983533"/>
            <a:ext cx="7220820" cy="33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Phase 2: Dataset Engineer</a:t>
            </a: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ing</a:t>
            </a:r>
          </a:p>
          <a:p>
            <a:pPr algn="l">
              <a:lnSpc>
                <a:spcPts val="893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536007" y="2871987"/>
            <a:ext cx="6461433" cy="4885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23" b="true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Auto-Labeling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Thresh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old of NDVI ≥ 0.6 identifies Forest centroids automatically for training.</a:t>
            </a: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  <a:r>
              <a:rPr lang="en-US" b="true" sz="2100" spc="-23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Patch Extraction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32x32 pixel patches are sliced around centroids to capture spatial textures and context.</a:t>
            </a: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  <a:r>
              <a:rPr lang="en-US" b="true" sz="2100" spc="-23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Zarr Storage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1,000 balanced samples stored in Zarr format for fast, chunked data access in PyTorch.</a:t>
            </a:r>
          </a:p>
          <a:p>
            <a:pPr algn="l">
              <a:lnSpc>
                <a:spcPts val="327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8858" y="5718833"/>
            <a:ext cx="9055956" cy="8229600"/>
          </a:xfrm>
          <a:custGeom>
            <a:avLst/>
            <a:gdLst/>
            <a:ahLst/>
            <a:cxnLst/>
            <a:rect r="r" b="b" t="t" l="l"/>
            <a:pathLst>
              <a:path h="8229600" w="9055956">
                <a:moveTo>
                  <a:pt x="0" y="0"/>
                </a:moveTo>
                <a:lnTo>
                  <a:pt x="9055956" y="0"/>
                </a:lnTo>
                <a:lnTo>
                  <a:pt x="90559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65583" y="1222180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6"/>
                </a:lnTo>
                <a:lnTo>
                  <a:pt x="0" y="1049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27761" y="6468798"/>
            <a:ext cx="6037523" cy="2996121"/>
          </a:xfrm>
          <a:custGeom>
            <a:avLst/>
            <a:gdLst/>
            <a:ahLst/>
            <a:cxnLst/>
            <a:rect r="r" b="b" t="t" l="l"/>
            <a:pathLst>
              <a:path h="2996121" w="6037523">
                <a:moveTo>
                  <a:pt x="0" y="0"/>
                </a:moveTo>
                <a:lnTo>
                  <a:pt x="6037523" y="0"/>
                </a:lnTo>
                <a:lnTo>
                  <a:pt x="6037523" y="2996121"/>
                </a:lnTo>
                <a:lnTo>
                  <a:pt x="0" y="29961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63269" y="3983533"/>
            <a:ext cx="7220820" cy="33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Model Architecture</a:t>
            </a:r>
          </a:p>
          <a:p>
            <a:pPr algn="l">
              <a:lnSpc>
                <a:spcPts val="89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988124" y="2871987"/>
            <a:ext cx="7313892" cy="5295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23" b="true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SimpleCNN Structure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A custom light-weight arch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itecture designed for multi-spectral patch classification.</a:t>
            </a: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Input: 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32x32 NDVI Patch (Single Channel)</a:t>
            </a:r>
          </a:p>
          <a:p>
            <a:pPr algn="l">
              <a:lnSpc>
                <a:spcPts val="3276"/>
              </a:lnSpc>
            </a:pP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Feature Extraction: 2x Convolutional Layers (16 &amp; 32 filters) + ReLU</a:t>
            </a:r>
          </a:p>
          <a:p>
            <a:pPr algn="l">
              <a:lnSpc>
                <a:spcPts val="3276"/>
              </a:lnSpc>
            </a:pP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Spatial Reduction: 2x Max-Pooling layers</a:t>
            </a:r>
          </a:p>
          <a:p>
            <a:pPr algn="l">
              <a:lnSpc>
                <a:spcPts val="3276"/>
              </a:lnSpc>
            </a:pPr>
          </a:p>
          <a:p>
            <a:pPr algn="l" marL="453390" indent="-226695" lvl="1">
              <a:lnSpc>
                <a:spcPts val="3276"/>
              </a:lnSpc>
              <a:buFont typeface="Arial"/>
              <a:buChar char="•"/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Classification: 2x Dense layers with Sigmoid activation for binary probability output.</a:t>
            </a:r>
          </a:p>
          <a:p>
            <a:pPr algn="l">
              <a:lnSpc>
                <a:spcPts val="327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58858" y="5718833"/>
            <a:ext cx="9055956" cy="8229600"/>
          </a:xfrm>
          <a:custGeom>
            <a:avLst/>
            <a:gdLst/>
            <a:ahLst/>
            <a:cxnLst/>
            <a:rect r="r" b="b" t="t" l="l"/>
            <a:pathLst>
              <a:path h="8229600" w="9055956">
                <a:moveTo>
                  <a:pt x="0" y="0"/>
                </a:moveTo>
                <a:lnTo>
                  <a:pt x="9055956" y="0"/>
                </a:lnTo>
                <a:lnTo>
                  <a:pt x="90559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465583" y="1222180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6"/>
                </a:lnTo>
                <a:lnTo>
                  <a:pt x="0" y="1049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956969" y="7355248"/>
            <a:ext cx="1085665" cy="568241"/>
          </a:xfrm>
          <a:custGeom>
            <a:avLst/>
            <a:gdLst/>
            <a:ahLst/>
            <a:cxnLst/>
            <a:rect r="r" b="b" t="t" l="l"/>
            <a:pathLst>
              <a:path h="568241" w="1085665">
                <a:moveTo>
                  <a:pt x="0" y="0"/>
                </a:moveTo>
                <a:lnTo>
                  <a:pt x="1085664" y="0"/>
                </a:lnTo>
                <a:lnTo>
                  <a:pt x="1085664" y="568242"/>
                </a:lnTo>
                <a:lnTo>
                  <a:pt x="0" y="568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39581" y="6468798"/>
            <a:ext cx="667554" cy="667554"/>
          </a:xfrm>
          <a:custGeom>
            <a:avLst/>
            <a:gdLst/>
            <a:ahLst/>
            <a:cxnLst/>
            <a:rect r="r" b="b" t="t" l="l"/>
            <a:pathLst>
              <a:path h="667554" w="667554">
                <a:moveTo>
                  <a:pt x="0" y="0"/>
                </a:moveTo>
                <a:lnTo>
                  <a:pt x="667554" y="0"/>
                </a:lnTo>
                <a:lnTo>
                  <a:pt x="667554" y="667554"/>
                </a:lnTo>
                <a:lnTo>
                  <a:pt x="0" y="667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61544" y="6468798"/>
            <a:ext cx="1381089" cy="776863"/>
          </a:xfrm>
          <a:custGeom>
            <a:avLst/>
            <a:gdLst/>
            <a:ahLst/>
            <a:cxnLst/>
            <a:rect r="r" b="b" t="t" l="l"/>
            <a:pathLst>
              <a:path h="776863" w="1381089">
                <a:moveTo>
                  <a:pt x="0" y="0"/>
                </a:moveTo>
                <a:lnTo>
                  <a:pt x="1381089" y="0"/>
                </a:lnTo>
                <a:lnTo>
                  <a:pt x="1381089" y="776863"/>
                </a:lnTo>
                <a:lnTo>
                  <a:pt x="0" y="7768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44695" y="7245661"/>
            <a:ext cx="562440" cy="678660"/>
          </a:xfrm>
          <a:custGeom>
            <a:avLst/>
            <a:gdLst/>
            <a:ahLst/>
            <a:cxnLst/>
            <a:rect r="r" b="b" t="t" l="l"/>
            <a:pathLst>
              <a:path h="678660" w="562440">
                <a:moveTo>
                  <a:pt x="0" y="0"/>
                </a:moveTo>
                <a:lnTo>
                  <a:pt x="562440" y="0"/>
                </a:lnTo>
                <a:lnTo>
                  <a:pt x="562440" y="678660"/>
                </a:lnTo>
                <a:lnTo>
                  <a:pt x="0" y="6786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53364" y="3645687"/>
            <a:ext cx="1245981" cy="1245981"/>
          </a:xfrm>
          <a:custGeom>
            <a:avLst/>
            <a:gdLst/>
            <a:ahLst/>
            <a:cxnLst/>
            <a:rect r="r" b="b" t="t" l="l"/>
            <a:pathLst>
              <a:path h="1245981" w="1245981">
                <a:moveTo>
                  <a:pt x="0" y="0"/>
                </a:moveTo>
                <a:lnTo>
                  <a:pt x="1245981" y="0"/>
                </a:lnTo>
                <a:lnTo>
                  <a:pt x="1245981" y="1245980"/>
                </a:lnTo>
                <a:lnTo>
                  <a:pt x="0" y="1245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63269" y="3983533"/>
            <a:ext cx="5263333" cy="336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Technology Stack</a:t>
            </a:r>
          </a:p>
          <a:p>
            <a:pPr algn="l">
              <a:lnSpc>
                <a:spcPts val="893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930033" y="3447502"/>
            <a:ext cx="5918277" cy="4475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spc="-23" b="true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Google Earth Engine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Cloud-based planetary data processing for petabyte-scale satellite image retrieval and composition.</a:t>
            </a: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  <a:r>
              <a:rPr lang="en-US" sz="2100" spc="-23" b="true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Python Ecosystem</a:t>
            </a:r>
          </a:p>
          <a:p>
            <a:pPr algn="l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PyTorch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 for deep lear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n</a:t>
            </a: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ing, Rasterio for geospatial I/O, and Zarr for high-performance data management.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73148" y="6461335"/>
            <a:ext cx="643879" cy="708267"/>
          </a:xfrm>
          <a:custGeom>
            <a:avLst/>
            <a:gdLst/>
            <a:ahLst/>
            <a:cxnLst/>
            <a:rect r="r" b="b" t="t" l="l"/>
            <a:pathLst>
              <a:path h="708267" w="643879">
                <a:moveTo>
                  <a:pt x="0" y="0"/>
                </a:moveTo>
                <a:lnTo>
                  <a:pt x="643879" y="0"/>
                </a:lnTo>
                <a:lnTo>
                  <a:pt x="643879" y="708268"/>
                </a:lnTo>
                <a:lnTo>
                  <a:pt x="0" y="70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14739" y="7703515"/>
            <a:ext cx="560698" cy="699283"/>
          </a:xfrm>
          <a:custGeom>
            <a:avLst/>
            <a:gdLst/>
            <a:ahLst/>
            <a:cxnLst/>
            <a:rect r="r" b="b" t="t" l="l"/>
            <a:pathLst>
              <a:path h="699283" w="560698">
                <a:moveTo>
                  <a:pt x="0" y="0"/>
                </a:moveTo>
                <a:lnTo>
                  <a:pt x="560698" y="0"/>
                </a:lnTo>
                <a:lnTo>
                  <a:pt x="560698" y="699283"/>
                </a:lnTo>
                <a:lnTo>
                  <a:pt x="0" y="6992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06231" y="5238145"/>
            <a:ext cx="649657" cy="689790"/>
          </a:xfrm>
          <a:custGeom>
            <a:avLst/>
            <a:gdLst/>
            <a:ahLst/>
            <a:cxnLst/>
            <a:rect r="r" b="b" t="t" l="l"/>
            <a:pathLst>
              <a:path h="689790" w="649657">
                <a:moveTo>
                  <a:pt x="0" y="0"/>
                </a:moveTo>
                <a:lnTo>
                  <a:pt x="649657" y="0"/>
                </a:lnTo>
                <a:lnTo>
                  <a:pt x="649657" y="689790"/>
                </a:lnTo>
                <a:lnTo>
                  <a:pt x="0" y="6897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86581" y="4615494"/>
            <a:ext cx="10668603" cy="90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4"/>
              </a:lnSpc>
            </a:pPr>
            <a:r>
              <a:rPr lang="en-US" sz="2697" spc="-2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Sliding Window Inference</a:t>
            </a:r>
          </a:p>
          <a:p>
            <a:pPr algn="l">
              <a:lnSpc>
                <a:spcPts val="361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86581" y="2884465"/>
            <a:ext cx="11586820" cy="110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Infe</a:t>
            </a: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rence &amp; Final Mapping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78749" y="5466025"/>
            <a:ext cx="11336489" cy="310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4" indent="-248287" lvl="1">
              <a:lnSpc>
                <a:spcPts val="3082"/>
              </a:lnSpc>
              <a:buFont typeface="Arial"/>
              <a:buChar char="•"/>
            </a:pPr>
            <a:r>
              <a:rPr lang="en-US" sz="2300" spc="-25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Stride 1: Maximum resolution by overlapping patches pixel-by-pixel.</a:t>
            </a:r>
          </a:p>
          <a:p>
            <a:pPr algn="l">
              <a:lnSpc>
                <a:spcPts val="3082"/>
              </a:lnSpc>
            </a:pPr>
          </a:p>
          <a:p>
            <a:pPr algn="l">
              <a:lnSpc>
                <a:spcPts val="3082"/>
              </a:lnSpc>
            </a:pPr>
          </a:p>
          <a:p>
            <a:pPr algn="l" marL="496574" indent="-248287" lvl="1">
              <a:lnSpc>
                <a:spcPts val="3082"/>
              </a:lnSpc>
              <a:buFont typeface="Arial"/>
              <a:buChar char="•"/>
            </a:pPr>
            <a:r>
              <a:rPr lang="en-US" sz="2300" spc="-25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Probability Averaging: Reduces edge artifacts and smooths transitions.</a:t>
            </a:r>
          </a:p>
          <a:p>
            <a:pPr algn="l">
              <a:lnSpc>
                <a:spcPts val="3082"/>
              </a:lnSpc>
            </a:pPr>
          </a:p>
          <a:p>
            <a:pPr algn="l">
              <a:lnSpc>
                <a:spcPts val="3082"/>
              </a:lnSpc>
            </a:pPr>
          </a:p>
          <a:p>
            <a:pPr algn="l" marL="496574" indent="-248287" lvl="1">
              <a:lnSpc>
                <a:spcPts val="3082"/>
              </a:lnSpc>
              <a:buFont typeface="Arial"/>
              <a:buChar char="•"/>
            </a:pPr>
            <a:r>
              <a:rPr lang="en-US" sz="2300" spc="-25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Binary GeoTIFF:</a:t>
            </a:r>
            <a:r>
              <a:rPr lang="en-US" sz="2300" spc="-25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 Exports results as uint8 (0: White, 1: Forest Green).</a:t>
            </a:r>
          </a:p>
          <a:p>
            <a:pPr algn="l">
              <a:lnSpc>
                <a:spcPts val="308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6836" y="4624356"/>
            <a:ext cx="4092301" cy="5741749"/>
          </a:xfrm>
          <a:custGeom>
            <a:avLst/>
            <a:gdLst/>
            <a:ahLst/>
            <a:cxnLst/>
            <a:rect r="r" b="b" t="t" l="l"/>
            <a:pathLst>
              <a:path h="5741749" w="4092301">
                <a:moveTo>
                  <a:pt x="0" y="0"/>
                </a:moveTo>
                <a:lnTo>
                  <a:pt x="4092300" y="0"/>
                </a:lnTo>
                <a:lnTo>
                  <a:pt x="4092300" y="5741748"/>
                </a:lnTo>
                <a:lnTo>
                  <a:pt x="0" y="5741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3984039"/>
            <a:ext cx="8557141" cy="5423088"/>
          </a:xfrm>
          <a:custGeom>
            <a:avLst/>
            <a:gdLst/>
            <a:ahLst/>
            <a:cxnLst/>
            <a:rect r="r" b="b" t="t" l="l"/>
            <a:pathLst>
              <a:path h="5423088" w="8557141">
                <a:moveTo>
                  <a:pt x="0" y="0"/>
                </a:moveTo>
                <a:lnTo>
                  <a:pt x="8557141" y="0"/>
                </a:lnTo>
                <a:lnTo>
                  <a:pt x="8557141" y="5423088"/>
                </a:lnTo>
                <a:lnTo>
                  <a:pt x="0" y="5423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50448" y="4919710"/>
            <a:ext cx="4092301" cy="5741749"/>
          </a:xfrm>
          <a:custGeom>
            <a:avLst/>
            <a:gdLst/>
            <a:ahLst/>
            <a:cxnLst/>
            <a:rect r="r" b="b" t="t" l="l"/>
            <a:pathLst>
              <a:path h="5741749" w="4092301">
                <a:moveTo>
                  <a:pt x="0" y="0"/>
                </a:moveTo>
                <a:lnTo>
                  <a:pt x="4092300" y="0"/>
                </a:lnTo>
                <a:lnTo>
                  <a:pt x="4092300" y="5741748"/>
                </a:lnTo>
                <a:lnTo>
                  <a:pt x="0" y="5741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12106" y="2555441"/>
            <a:ext cx="10519971" cy="110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68672" y="3984039"/>
            <a:ext cx="8557141" cy="5423088"/>
          </a:xfrm>
          <a:custGeom>
            <a:avLst/>
            <a:gdLst/>
            <a:ahLst/>
            <a:cxnLst/>
            <a:rect r="r" b="b" t="t" l="l"/>
            <a:pathLst>
              <a:path h="5423088" w="8557141">
                <a:moveTo>
                  <a:pt x="0" y="0"/>
                </a:moveTo>
                <a:lnTo>
                  <a:pt x="8557141" y="0"/>
                </a:lnTo>
                <a:lnTo>
                  <a:pt x="8557141" y="5423088"/>
                </a:lnTo>
                <a:lnTo>
                  <a:pt x="0" y="5423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19551" y="7343620"/>
            <a:ext cx="16230600" cy="4666297"/>
          </a:xfrm>
          <a:custGeom>
            <a:avLst/>
            <a:gdLst/>
            <a:ahLst/>
            <a:cxnLst/>
            <a:rect r="r" b="b" t="t" l="l"/>
            <a:pathLst>
              <a:path h="4666297" w="16230600">
                <a:moveTo>
                  <a:pt x="0" y="0"/>
                </a:moveTo>
                <a:lnTo>
                  <a:pt x="16230600" y="0"/>
                </a:lnTo>
                <a:lnTo>
                  <a:pt x="16230600" y="4666298"/>
                </a:lnTo>
                <a:lnTo>
                  <a:pt x="0" y="4666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2017" y="9083178"/>
            <a:ext cx="323949" cy="323949"/>
          </a:xfrm>
          <a:custGeom>
            <a:avLst/>
            <a:gdLst/>
            <a:ahLst/>
            <a:cxnLst/>
            <a:rect r="r" b="b" t="t" l="l"/>
            <a:pathLst>
              <a:path h="323949" w="323949">
                <a:moveTo>
                  <a:pt x="0" y="0"/>
                </a:moveTo>
                <a:lnTo>
                  <a:pt x="323948" y="0"/>
                </a:lnTo>
                <a:lnTo>
                  <a:pt x="323948" y="323949"/>
                </a:lnTo>
                <a:lnTo>
                  <a:pt x="0" y="32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12106" y="2904390"/>
            <a:ext cx="11943223" cy="110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6664" spc="-73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What do we think of this?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40240" y="4471816"/>
            <a:ext cx="11486956" cy="324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100" spc="-23">
                <a:solidFill>
                  <a:srgbClr val="136535"/>
                </a:solidFill>
                <a:latin typeface="Playpen Sans"/>
                <a:ea typeface="Playpen Sans"/>
                <a:cs typeface="Playpen Sans"/>
                <a:sym typeface="Playpen Sans"/>
              </a:rPr>
              <a:t>The results indicate an increase in forest cover between 2020 and 2024, yet this requires field verification to distinguish genuine reforestation from seasonal "spectral noise." Because NDVI measures chlorophyll reflectance, a wetter 2024 dry season may have triggered a surge of herbaceous ground cover that the model mistakenly classifies as forest. Despite this, the method provides a vital strategic tool for Haiti; it allows forestry officials to bypass blanket patrols and instead use "anomaly detection" to target specific zones for protection or regeneration, creating a scalable monitoring framework.</a:t>
            </a:r>
          </a:p>
          <a:p>
            <a:pPr algn="ctr">
              <a:lnSpc>
                <a:spcPts val="327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658508" y="6594910"/>
            <a:ext cx="16230600" cy="4666298"/>
          </a:xfrm>
          <a:custGeom>
            <a:avLst/>
            <a:gdLst/>
            <a:ahLst/>
            <a:cxnLst/>
            <a:rect r="r" b="b" t="t" l="l"/>
            <a:pathLst>
              <a:path h="4666298" w="16230600">
                <a:moveTo>
                  <a:pt x="16230600" y="0"/>
                </a:moveTo>
                <a:lnTo>
                  <a:pt x="0" y="0"/>
                </a:lnTo>
                <a:lnTo>
                  <a:pt x="0" y="4666298"/>
                </a:lnTo>
                <a:lnTo>
                  <a:pt x="16230600" y="4666298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94349" y="1923172"/>
            <a:ext cx="4242112" cy="771525"/>
            <a:chOff x="0" y="0"/>
            <a:chExt cx="2234528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17838" y="2016013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3148" y="2063638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48310" y="1354914"/>
            <a:ext cx="1555310" cy="75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3549" spc="-39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83699" y="-192620"/>
            <a:ext cx="10560059" cy="12227437"/>
          </a:xfrm>
          <a:custGeom>
            <a:avLst/>
            <a:gdLst/>
            <a:ahLst/>
            <a:cxnLst/>
            <a:rect r="r" b="b" t="t" l="l"/>
            <a:pathLst>
              <a:path h="12227437" w="10560059">
                <a:moveTo>
                  <a:pt x="0" y="0"/>
                </a:moveTo>
                <a:lnTo>
                  <a:pt x="10560059" y="0"/>
                </a:lnTo>
                <a:lnTo>
                  <a:pt x="10560059" y="12227436"/>
                </a:lnTo>
                <a:lnTo>
                  <a:pt x="0" y="12227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7197" y="-332227"/>
            <a:ext cx="9522611" cy="10493236"/>
          </a:xfrm>
          <a:custGeom>
            <a:avLst/>
            <a:gdLst/>
            <a:ahLst/>
            <a:cxnLst/>
            <a:rect r="r" b="b" t="t" l="l"/>
            <a:pathLst>
              <a:path h="10493236" w="9522611">
                <a:moveTo>
                  <a:pt x="0" y="0"/>
                </a:moveTo>
                <a:lnTo>
                  <a:pt x="9522611" y="0"/>
                </a:lnTo>
                <a:lnTo>
                  <a:pt x="9522611" y="10493235"/>
                </a:lnTo>
                <a:lnTo>
                  <a:pt x="0" y="10493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27102" y="4918508"/>
            <a:ext cx="7533128" cy="160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90"/>
              </a:lnSpc>
            </a:pPr>
            <a:r>
              <a:rPr lang="en-US" sz="9768" spc="-107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Thank Y</a:t>
            </a:r>
            <a:r>
              <a:rPr lang="en-US" sz="9768" spc="-107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606749" y="8109453"/>
            <a:ext cx="4894451" cy="5393334"/>
          </a:xfrm>
          <a:custGeom>
            <a:avLst/>
            <a:gdLst/>
            <a:ahLst/>
            <a:cxnLst/>
            <a:rect r="r" b="b" t="t" l="l"/>
            <a:pathLst>
              <a:path h="5393334" w="4894451">
                <a:moveTo>
                  <a:pt x="0" y="0"/>
                </a:moveTo>
                <a:lnTo>
                  <a:pt x="4894450" y="0"/>
                </a:lnTo>
                <a:lnTo>
                  <a:pt x="4894450" y="5393334"/>
                </a:lnTo>
                <a:lnTo>
                  <a:pt x="0" y="539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61209" y="3699308"/>
            <a:ext cx="4242112" cy="771525"/>
            <a:chOff x="0" y="0"/>
            <a:chExt cx="2234528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4528" cy="406400"/>
            </a:xfrm>
            <a:custGeom>
              <a:avLst/>
              <a:gdLst/>
              <a:ahLst/>
              <a:cxnLst/>
              <a:rect r="r" b="b" t="t" l="l"/>
              <a:pathLst>
                <a:path h="406400" w="2234528">
                  <a:moveTo>
                    <a:pt x="2031328" y="0"/>
                  </a:moveTo>
                  <a:cubicBezTo>
                    <a:pt x="2143552" y="0"/>
                    <a:pt x="2234528" y="90976"/>
                    <a:pt x="2234528" y="203200"/>
                  </a:cubicBezTo>
                  <a:cubicBezTo>
                    <a:pt x="2234528" y="315424"/>
                    <a:pt x="2143552" y="406400"/>
                    <a:pt x="203132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3DC8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3452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984699" y="3792149"/>
            <a:ext cx="1813222" cy="519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4"/>
              </a:lnSpc>
              <a:spcBef>
                <a:spcPct val="0"/>
              </a:spcBef>
            </a:pPr>
            <a:r>
              <a:rPr lang="en-US" sz="3031">
                <a:solidFill>
                  <a:srgbClr val="136535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A project by: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40009" y="3839774"/>
            <a:ext cx="2948188" cy="3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  <a:spcBef>
                <a:spcPct val="0"/>
              </a:spcBef>
            </a:pPr>
            <a:r>
              <a:rPr lang="en-US" b="true" sz="2337">
                <a:solidFill>
                  <a:srgbClr val="136535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Venslee Merilan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8046" y="7656102"/>
            <a:ext cx="6325582" cy="256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</a:rPr>
              <a:t>References</a:t>
            </a:r>
          </a:p>
          <a:p>
            <a:pPr algn="l" marL="215899" indent="-107950" lvl="1">
              <a:lnSpc>
                <a:spcPts val="1399"/>
              </a:lnSpc>
              <a:buAutoNum type="arabicPeriod" startAt="1"/>
            </a:pPr>
            <a:r>
              <a:rPr lang="en-US" sz="999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</a:rPr>
              <a:t>Phung, Van &amp; Rhee, Eun. (2019). A High-Accuracy Model Average Ensemble of Convolutional Neural Networks for Classification of Cloud Image Patches on Small Datasets. Applied Sciences. 9. 4500. 10.3390/app9214500. </a:t>
            </a:r>
          </a:p>
          <a:p>
            <a:pPr algn="l" marL="215899" indent="-107950" lvl="1">
              <a:lnSpc>
                <a:spcPts val="1399"/>
              </a:lnSpc>
              <a:buAutoNum type="arabicPeriod" startAt="1"/>
            </a:pPr>
            <a:r>
              <a:rPr lang="en-US" sz="999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</a:rPr>
              <a:t>Ansel, J., Yang, E., He, H., Gimelshein, N., Jain, A., Voznesensky, M., ... &amp; PyTorch Team. (2024). PyTorch 2: Faster Machine Learning Through Dynamic Python Bytecode Transformation and Graph Compilation. 29th ACM International Conference on Architectural Support for Programming Languages and Operating Systems, Volume 2 (ASPLOS '24). https://doi.org/10.1145/3620665.3640366</a:t>
            </a:r>
          </a:p>
          <a:p>
            <a:pPr algn="l" marL="215899" indent="-107950" lvl="1">
              <a:lnSpc>
                <a:spcPts val="1399"/>
              </a:lnSpc>
              <a:buAutoNum type="arabicPeriod" startAt="1"/>
            </a:pPr>
            <a:r>
              <a:rPr lang="en-US" sz="999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</a:rPr>
              <a:t>Paszke, A., Gross, S., Massa, F., Lerer, A., Bradbury, J., Chanan, G., ... &amp; Chintala, S. (2019). PyTorch: An Imperative Style, High-Performance Deep Learning Library. Advances in Neural Information Processing Systems 32, 8024–8035. https://proceedings.neurips.cc/paper/2019/file/bdbca288fee7f92f2bfa9f7012727740-Paper.pdf</a:t>
            </a:r>
          </a:p>
          <a:p>
            <a:pPr algn="l" marL="215899" indent="-107950" lvl="1">
              <a:lnSpc>
                <a:spcPts val="1399"/>
              </a:lnSpc>
              <a:buAutoNum type="arabicPeriod" startAt="1"/>
            </a:pPr>
            <a:r>
              <a:rPr lang="en-US" sz="999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</a:rPr>
              <a:t>Gorelick, N., Hancher, M., Dixon, M., Ilyushchenko, S., Thau, D., &amp; Moore, R. (2017). Google Earth Engine: Planetary-scale geospatial analysis for everyone. Remote Sensing of Environment, 202, 18–27. </a:t>
            </a:r>
            <a:r>
              <a:rPr lang="en-US" sz="999" u="sng">
                <a:solidFill>
                  <a:srgbClr val="136535"/>
                </a:solidFill>
                <a:latin typeface="Arimo"/>
                <a:ea typeface="Arimo"/>
                <a:cs typeface="Arimo"/>
                <a:sym typeface="Arimo"/>
                <a:hlinkClick r:id="rId5" tooltip="https://doi.org/10.1016/j.rse.2017.06.031"/>
              </a:rPr>
              <a:t>https://doi.org/10.1016/j.rse.2017.06.031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9863" y="1673994"/>
            <a:ext cx="3436758" cy="165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7"/>
              </a:lnSpc>
            </a:pPr>
            <a:r>
              <a:rPr lang="en-US" sz="7844" spc="-86">
                <a:solidFill>
                  <a:srgbClr val="136535"/>
                </a:solidFill>
                <a:latin typeface="Playwrite US Modern"/>
                <a:ea typeface="Playwrite US Modern"/>
                <a:cs typeface="Playwrite US Modern"/>
                <a:sym typeface="Playwrite US Modern"/>
              </a:rPr>
              <a:t>Forest or not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DAHI4LQEIJY</dc:identifier>
  <dcterms:modified xsi:type="dcterms:W3CDTF">2011-08-01T06:04:30Z</dcterms:modified>
  <cp:revision>1</cp:revision>
  <dc:title>Green Watercolor Minimalist Forest Presentation</dc:title>
</cp:coreProperties>
</file>